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" name="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321"/>
            <a:ext cx="12191695" cy="5843356"/>
          </a:xfrm>
          <a:prstGeom prst="rect">
            <a:avLst/>
          </a:prstGeom>
        </p:spPr>
      </p:pic>
      <p:sp>
        <p:nvSpPr>
          <p:cNvPr id="4" name="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>
              <a:alpha val="3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5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02920"/>
            <a:ext cx="685800" cy="685800"/>
          </a:xfrm>
          <a:prstGeom prst="rect">
            <a:avLst/>
          </a:prstGeom>
        </p:spPr>
      </p:pic>
      <p:sp>
        <p:nvSpPr>
          <p:cNvPr id="6" name="Title"/>
          <p:cNvSpPr/>
          <p:nvPr/>
        </p:nvSpPr>
        <p:spPr>
          <a:xfrm>
            <a:off x="685800" y="1874519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PortOps Data Mart</a:t>
            </a:r>
            <a:endParaRPr lang="en-US" sz="3500"/>
          </a:p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and Power BI Analytics</a:t>
            </a:r>
            <a:endParaRPr lang="en-US" sz="3500"/>
          </a:p>
        </p:txBody>
      </p:sp>
      <p:sp>
        <p:nvSpPr>
          <p:cNvPr id="7" name="Subtitle"/>
          <p:cNvSpPr/>
          <p:nvPr/>
        </p:nvSpPr>
        <p:spPr>
          <a:xfrm>
            <a:off x="731520" y="32461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>
                <a:solidFill>
                  <a:srgbClr val="D7F8FF"/>
                </a:solidFill>
                <a:latin typeface="Aptos"/>
              </a:rPr>
              <a:t>Assessment walkthrough: SQL Server dimensional model, SSIS ETL, and DP World dashboard</a:t>
            </a:r>
            <a:endParaRPr lang="en-US" sz="1700"/>
          </a:p>
        </p:txBody>
      </p:sp>
      <p:sp>
        <p:nvSpPr>
          <p:cNvPr id="8" name="Footer"/>
          <p:cNvSpPr/>
          <p:nvPr/>
        </p:nvSpPr>
        <p:spPr>
          <a:xfrm>
            <a:off x="731520" y="61722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CBD5E1"/>
                </a:solidFill>
                <a:latin typeface="Aptos"/>
              </a:rPr>
              <a:t>Generated from repository contents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Executive Summary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What was built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sp>
        <p:nvSpPr>
          <p:cNvPr id="7" name="Data Pipeline Card"/>
          <p:cNvSpPr/>
          <p:nvPr/>
        </p:nvSpPr>
        <p:spPr>
          <a:xfrm>
            <a:off x="594360" y="10515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Data Pipeline"/>
          <p:cNvSpPr/>
          <p:nvPr/>
        </p:nvSpPr>
        <p:spPr>
          <a:xfrm>
            <a:off x="795528" y="1234439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0B1736"/>
                </a:solidFill>
                <a:latin typeface="Aptos"/>
              </a:rPr>
              <a:t>Data Pipeline</a:t>
            </a:r>
            <a:endParaRPr lang="en-US" sz="1700"/>
          </a:p>
        </p:txBody>
      </p:sp>
      <p:sp>
        <p:nvSpPr>
          <p:cNvPr id="9" name="Data Pipeline Body"/>
          <p:cNvSpPr/>
          <p:nvPr/>
        </p:nvSpPr>
        <p:spPr>
          <a:xfrm>
            <a:off x="795528" y="1709928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Excel source workbook ingested through SSIS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Bronze -&gt; Silver -&gt; Gold medallion flow</a:t>
            </a:r>
            <a:endParaRPr lang="en-US" sz="1200"/>
          </a:p>
        </p:txBody>
      </p:sp>
      <p:sp>
        <p:nvSpPr>
          <p:cNvPr id="10" name="Warehouse Model Card"/>
          <p:cNvSpPr/>
          <p:nvPr/>
        </p:nvSpPr>
        <p:spPr>
          <a:xfrm>
            <a:off x="6309360" y="10515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Warehouse Model"/>
          <p:cNvSpPr/>
          <p:nvPr/>
        </p:nvSpPr>
        <p:spPr>
          <a:xfrm>
            <a:off x="6510528" y="1234439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0B1736"/>
                </a:solidFill>
                <a:latin typeface="Aptos"/>
              </a:rPr>
              <a:t>Warehouse Model</a:t>
            </a:r>
            <a:endParaRPr lang="en-US" sz="1700"/>
          </a:p>
        </p:txBody>
      </p:sp>
      <p:sp>
        <p:nvSpPr>
          <p:cNvPr id="12" name="Warehouse Model Body"/>
          <p:cNvSpPr/>
          <p:nvPr/>
        </p:nvSpPr>
        <p:spPr>
          <a:xfrm>
            <a:off x="6510528" y="1709928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SQL Server star schema for analytics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- 5 dimensions and 3 fact tables</a:t>
            </a:r>
            <a:endParaRPr lang="en-US" sz="1200"/>
          </a:p>
        </p:txBody>
      </p:sp>
      <p:sp>
        <p:nvSpPr>
          <p:cNvPr id="13" name="History Handling Card"/>
          <p:cNvSpPr/>
          <p:nvPr/>
        </p:nvSpPr>
        <p:spPr>
          <a:xfrm>
            <a:off x="594360" y="3154679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History Handling"/>
          <p:cNvSpPr/>
          <p:nvPr/>
        </p:nvSpPr>
        <p:spPr>
          <a:xfrm>
            <a:off x="795528" y="333756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0B1736"/>
                </a:solidFill>
                <a:latin typeface="Aptos"/>
              </a:rPr>
              <a:t>History Handling</a:t>
            </a:r>
            <a:endParaRPr lang="en-US" sz="1700"/>
          </a:p>
        </p:txBody>
      </p:sp>
      <p:sp>
        <p:nvSpPr>
          <p:cNvPr id="15" name="History Handling Body"/>
          <p:cNvSpPr/>
          <p:nvPr/>
        </p:nvSpPr>
        <p:spPr>
          <a:xfrm>
            <a:off x="795528" y="3813048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Manual customer SCD Type 2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Type 1 dimensions for terminal, equipment, shift</a:t>
            </a:r>
            <a:endParaRPr lang="en-US" sz="1200"/>
          </a:p>
        </p:txBody>
      </p:sp>
      <p:sp>
        <p:nvSpPr>
          <p:cNvPr id="16" name="BI Outcome Card"/>
          <p:cNvSpPr/>
          <p:nvPr/>
        </p:nvSpPr>
        <p:spPr>
          <a:xfrm>
            <a:off x="6309360" y="3154679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BI Outcome"/>
          <p:cNvSpPr/>
          <p:nvPr/>
        </p:nvSpPr>
        <p:spPr>
          <a:xfrm>
            <a:off x="6510528" y="333756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0B1736"/>
                </a:solidFill>
                <a:latin typeface="Aptos"/>
              </a:rPr>
              <a:t>BI Outcome</a:t>
            </a:r>
            <a:endParaRPr lang="en-US" sz="1700"/>
          </a:p>
        </p:txBody>
      </p:sp>
      <p:sp>
        <p:nvSpPr>
          <p:cNvPr id="18" name="BI Outcome Body"/>
          <p:cNvSpPr/>
          <p:nvPr/>
        </p:nvSpPr>
        <p:spPr>
          <a:xfrm>
            <a:off x="6510528" y="3813048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Power BI model connected to Gold layer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Operations, gate, customer, and vessel pages</a:t>
            </a:r>
            <a:endParaRPr lang="en-US" sz="1200"/>
          </a:p>
        </p:txBody>
      </p:sp>
      <p:sp>
        <p:nvSpPr>
          <p:cNvPr id="19" name="Bottom Note"/>
          <p:cNvSpPr/>
          <p:nvPr/>
        </p:nvSpPr>
        <p:spPr>
          <a:xfrm>
            <a:off x="640080" y="5715000"/>
            <a:ext cx="10789920" cy="59436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The solution emphasizes traceability, surrogate-keyed facts, retained invalid records, and report-ready measures.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Repository Scope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What is included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sp>
        <p:nvSpPr>
          <p:cNvPr id="7" name="Intro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The project is split into a data-mart implementation and a Power BI report package.</a:t>
            </a:r>
            <a:endParaRPr lang="en-US" sz="1600"/>
          </a:p>
        </p:txBody>
      </p:sp>
      <p:sp>
        <p:nvSpPr>
          <p:cNvPr id="8" name="Part1"/>
          <p:cNvSpPr/>
          <p:nvPr/>
        </p:nvSpPr>
        <p:spPr>
          <a:xfrm>
            <a:off x="640080" y="164592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Part1 title"/>
          <p:cNvSpPr/>
          <p:nvPr/>
        </p:nvSpPr>
        <p:spPr>
          <a:xfrm>
            <a:off x="914400" y="1874519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0B1736"/>
                </a:solidFill>
                <a:latin typeface="Aptos"/>
              </a:rPr>
              <a:t>Part 1 - Data Mart</a:t>
            </a:r>
            <a:endParaRPr lang="en-US" sz="2100"/>
          </a:p>
        </p:txBody>
      </p:sp>
      <p:sp>
        <p:nvSpPr>
          <p:cNvPr id="10" name="Part1 body"/>
          <p:cNvSpPr/>
          <p:nvPr/>
        </p:nvSpPr>
        <p:spPr>
          <a:xfrm>
            <a:off x="914400" y="2468880"/>
            <a:ext cx="4572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SQL DDL for bronze, silver, gold, audit, and dq schemas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Silver delta stored procedures with validation and row_hash change detection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SSIS solution with master, ingestion, silver, dimensions, SCD2, and fact packages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Screenshots documenting package workflows</a:t>
            </a:r>
            <a:endParaRPr lang="en-US" sz="1200"/>
          </a:p>
        </p:txBody>
      </p:sp>
      <p:sp>
        <p:nvSpPr>
          <p:cNvPr id="11" name="Part2"/>
          <p:cNvSpPr/>
          <p:nvPr/>
        </p:nvSpPr>
        <p:spPr>
          <a:xfrm>
            <a:off x="6263640" y="164592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Part2 title"/>
          <p:cNvSpPr/>
          <p:nvPr/>
        </p:nvSpPr>
        <p:spPr>
          <a:xfrm>
            <a:off x="6537960" y="1874519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0B1736"/>
                </a:solidFill>
                <a:latin typeface="Aptos"/>
              </a:rPr>
              <a:t>Part 2 - Power BI</a:t>
            </a:r>
            <a:endParaRPr lang="en-US" sz="2100"/>
          </a:p>
        </p:txBody>
      </p:sp>
      <p:sp>
        <p:nvSpPr>
          <p:cNvPr id="13" name="Part2 body"/>
          <p:cNvSpPr/>
          <p:nvPr/>
        </p:nvSpPr>
        <p:spPr>
          <a:xfrm>
            <a:off x="6537960" y="2468880"/>
            <a:ext cx="4572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DPWorld.pbix report file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Branded assets and dashboard backgrounds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Screenshots for home, operations, gate performance, customer/vessel performance, and data model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Measures for moves, crane cycle, berth delay, truck turnaround, and rolling averages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End-to-End Architecture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Excel to dashboard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sp>
        <p:nvSpPr>
          <p:cNvPr id="7" name="Excel Source Box"/>
          <p:cNvSpPr/>
          <p:nvPr/>
        </p:nvSpPr>
        <p:spPr>
          <a:xfrm>
            <a:off x="502920" y="182880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Excel Source Title"/>
          <p:cNvSpPr/>
          <p:nvPr/>
        </p:nvSpPr>
        <p:spPr>
          <a:xfrm>
            <a:off x="640080" y="201168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Excel Source</a:t>
            </a:r>
            <a:endParaRPr lang="en-US" sz="1600"/>
          </a:p>
        </p:txBody>
      </p:sp>
      <p:sp>
        <p:nvSpPr>
          <p:cNvPr id="9" name="Excel Source Body"/>
          <p:cNvSpPr/>
          <p:nvPr/>
        </p:nvSpPr>
        <p:spPr>
          <a:xfrm>
            <a:off x="667512" y="2560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Full workbook extract from operational sheets</a:t>
            </a:r>
            <a:endParaRPr lang="en-US" sz="1000"/>
          </a:p>
        </p:txBody>
      </p:sp>
      <p:sp>
        <p:nvSpPr>
          <p:cNvPr id="10" name="Arrow 0"/>
          <p:cNvSpPr/>
          <p:nvPr/>
        </p:nvSpPr>
        <p:spPr>
          <a:xfrm>
            <a:off x="2633472" y="25786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16B6A1"/>
                </a:solidFill>
                <a:latin typeface="Aptos"/>
              </a:rPr>
              <a:t>-&gt;</a:t>
            </a:r>
            <a:endParaRPr lang="en-US" sz="1800"/>
          </a:p>
        </p:txBody>
      </p:sp>
      <p:sp>
        <p:nvSpPr>
          <p:cNvPr id="11" name="Bronze Box"/>
          <p:cNvSpPr/>
          <p:nvPr/>
        </p:nvSpPr>
        <p:spPr>
          <a:xfrm>
            <a:off x="2834639" y="182880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Bronze Title"/>
          <p:cNvSpPr/>
          <p:nvPr/>
        </p:nvSpPr>
        <p:spPr>
          <a:xfrm>
            <a:off x="2971799" y="201168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Bronze</a:t>
            </a:r>
            <a:endParaRPr lang="en-US" sz="1600"/>
          </a:p>
        </p:txBody>
      </p:sp>
      <p:sp>
        <p:nvSpPr>
          <p:cNvPr id="13" name="Bronze Body"/>
          <p:cNvSpPr/>
          <p:nvPr/>
        </p:nvSpPr>
        <p:spPr>
          <a:xfrm>
            <a:off x="2999232" y="2560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Raw landing tables with ingest metadata</a:t>
            </a:r>
            <a:endParaRPr lang="en-US" sz="1000"/>
          </a:p>
        </p:txBody>
      </p:sp>
      <p:sp>
        <p:nvSpPr>
          <p:cNvPr id="14" name="Arrow 1"/>
          <p:cNvSpPr/>
          <p:nvPr/>
        </p:nvSpPr>
        <p:spPr>
          <a:xfrm>
            <a:off x="4965192" y="25786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16B6A1"/>
                </a:solidFill>
                <a:latin typeface="Aptos"/>
              </a:rPr>
              <a:t>-&gt;</a:t>
            </a:r>
            <a:endParaRPr lang="en-US" sz="1800"/>
          </a:p>
        </p:txBody>
      </p:sp>
      <p:sp>
        <p:nvSpPr>
          <p:cNvPr id="15" name="Silver Box"/>
          <p:cNvSpPr/>
          <p:nvPr/>
        </p:nvSpPr>
        <p:spPr>
          <a:xfrm>
            <a:off x="5166359" y="182880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Silver Title"/>
          <p:cNvSpPr/>
          <p:nvPr/>
        </p:nvSpPr>
        <p:spPr>
          <a:xfrm>
            <a:off x="5303520" y="201168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Silver</a:t>
            </a:r>
            <a:endParaRPr lang="en-US" sz="1600"/>
          </a:p>
        </p:txBody>
      </p:sp>
      <p:sp>
        <p:nvSpPr>
          <p:cNvPr id="17" name="Silver Body"/>
          <p:cNvSpPr/>
          <p:nvPr/>
        </p:nvSpPr>
        <p:spPr>
          <a:xfrm>
            <a:off x="5330951" y="2560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Typed, cleaned, validated tables loaded in delta mode</a:t>
            </a:r>
            <a:endParaRPr lang="en-US" sz="1000"/>
          </a:p>
        </p:txBody>
      </p:sp>
      <p:sp>
        <p:nvSpPr>
          <p:cNvPr id="18" name="Arrow 2"/>
          <p:cNvSpPr/>
          <p:nvPr/>
        </p:nvSpPr>
        <p:spPr>
          <a:xfrm>
            <a:off x="7296912" y="25786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16B6A1"/>
                </a:solidFill>
                <a:latin typeface="Aptos"/>
              </a:rPr>
              <a:t>-&gt;</a:t>
            </a:r>
            <a:endParaRPr lang="en-US" sz="1800"/>
          </a:p>
        </p:txBody>
      </p:sp>
      <p:sp>
        <p:nvSpPr>
          <p:cNvPr id="19" name="Gold Box"/>
          <p:cNvSpPr/>
          <p:nvPr/>
        </p:nvSpPr>
        <p:spPr>
          <a:xfrm>
            <a:off x="7498079" y="182880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Gold Title"/>
          <p:cNvSpPr/>
          <p:nvPr/>
        </p:nvSpPr>
        <p:spPr>
          <a:xfrm>
            <a:off x="7635240" y="201168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Gold</a:t>
            </a:r>
            <a:endParaRPr lang="en-US" sz="1600"/>
          </a:p>
        </p:txBody>
      </p:sp>
      <p:sp>
        <p:nvSpPr>
          <p:cNvPr id="21" name="Gold Body"/>
          <p:cNvSpPr/>
          <p:nvPr/>
        </p:nvSpPr>
        <p:spPr>
          <a:xfrm>
            <a:off x="7662671" y="2560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Surrogate-keyed dimensional star schema</a:t>
            </a:r>
            <a:endParaRPr lang="en-US" sz="1000"/>
          </a:p>
        </p:txBody>
      </p:sp>
      <p:sp>
        <p:nvSpPr>
          <p:cNvPr id="22" name="Arrow 3"/>
          <p:cNvSpPr/>
          <p:nvPr/>
        </p:nvSpPr>
        <p:spPr>
          <a:xfrm>
            <a:off x="9628632" y="25786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16B6A1"/>
                </a:solidFill>
                <a:latin typeface="Aptos"/>
              </a:rPr>
              <a:t>-&gt;</a:t>
            </a:r>
            <a:endParaRPr lang="en-US" sz="1800"/>
          </a:p>
        </p:txBody>
      </p:sp>
      <p:sp>
        <p:nvSpPr>
          <p:cNvPr id="23" name="Power BI Box"/>
          <p:cNvSpPr/>
          <p:nvPr/>
        </p:nvSpPr>
        <p:spPr>
          <a:xfrm>
            <a:off x="9829800" y="182880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Power BI Title"/>
          <p:cNvSpPr/>
          <p:nvPr/>
        </p:nvSpPr>
        <p:spPr>
          <a:xfrm>
            <a:off x="9966960" y="201168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Power BI</a:t>
            </a:r>
            <a:endParaRPr lang="en-US" sz="1600"/>
          </a:p>
        </p:txBody>
      </p:sp>
      <p:sp>
        <p:nvSpPr>
          <p:cNvPr id="25" name="Power BI Body"/>
          <p:cNvSpPr/>
          <p:nvPr/>
        </p:nvSpPr>
        <p:spPr>
          <a:xfrm>
            <a:off x="9994392" y="2560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Report connects to Gold layer only</a:t>
            </a:r>
            <a:endParaRPr lang="en-US" sz="1000"/>
          </a:p>
        </p:txBody>
      </p:sp>
      <p:sp>
        <p:nvSpPr>
          <p:cNvPr id="26" name="Why"/>
          <p:cNvSpPr/>
          <p:nvPr/>
        </p:nvSpPr>
        <p:spPr>
          <a:xfrm>
            <a:off x="685800" y="4709160"/>
            <a:ext cx="10789920" cy="73152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172033"/>
                </a:solidFill>
                <a:latin typeface="Aptos"/>
              </a:rPr>
              <a:t>Design reason: each layer has a narrow responsibility, which makes reruns, debugging, audit review, and BI modeling easier.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Gold Star Schema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Business-facing model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PowerBi Data 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166453"/>
            <a:ext cx="6400800" cy="2570813"/>
          </a:xfrm>
          <a:prstGeom prst="rect">
            <a:avLst/>
          </a:prstGeom>
        </p:spPr>
      </p:pic>
      <p:sp>
        <p:nvSpPr>
          <p:cNvPr id="8" name="Left Panel"/>
          <p:cNvSpPr/>
          <p:nvPr/>
        </p:nvSpPr>
        <p:spPr>
          <a:xfrm>
            <a:off x="502920" y="960120"/>
            <a:ext cx="4526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Dims"/>
          <p:cNvSpPr/>
          <p:nvPr/>
        </p:nvSpPr>
        <p:spPr>
          <a:xfrm>
            <a:off x="777240" y="12344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Dimensions</a:t>
            </a:r>
            <a:endParaRPr lang="en-US" sz="2000"/>
          </a:p>
        </p:txBody>
      </p:sp>
      <p:sp>
        <p:nvSpPr>
          <p:cNvPr id="10" name="Dims list"/>
          <p:cNvSpPr/>
          <p:nvPr/>
        </p:nvSpPr>
        <p:spPr>
          <a:xfrm>
            <a:off x="777240" y="173736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gold.dim_date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gold.dim_customer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gold.dim_terminal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gold.dim_equipment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gold.dim_shift</a:t>
            </a:r>
            <a:endParaRPr lang="en-US" sz="1300"/>
          </a:p>
        </p:txBody>
      </p:sp>
      <p:sp>
        <p:nvSpPr>
          <p:cNvPr id="11" name="Facts"/>
          <p:cNvSpPr/>
          <p:nvPr/>
        </p:nvSpPr>
        <p:spPr>
          <a:xfrm>
            <a:off x="777240" y="3154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Facts</a:t>
            </a:r>
            <a:endParaRPr lang="en-US" sz="2000"/>
          </a:p>
        </p:txBody>
      </p:sp>
      <p:sp>
        <p:nvSpPr>
          <p:cNvPr id="12" name="Facts list"/>
          <p:cNvSpPr/>
          <p:nvPr/>
        </p:nvSpPr>
        <p:spPr>
          <a:xfrm>
            <a:off x="777240" y="365760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gold.fact_vessel_call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gold.fact_container_movement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gold.fact_gate_transaction</a:t>
            </a:r>
            <a:endParaRPr lang="en-US" sz="1300"/>
          </a:p>
        </p:txBody>
      </p:sp>
      <p:sp>
        <p:nvSpPr>
          <p:cNvPr id="13" name="Note"/>
          <p:cNvSpPr/>
          <p:nvPr/>
        </p:nvSpPr>
        <p:spPr>
          <a:xfrm>
            <a:off x="777240" y="5074920"/>
            <a:ext cx="3749039" cy="41148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1">
                <a:solidFill>
                  <a:srgbClr val="172033"/>
                </a:solidFill>
                <a:latin typeface="Aptos"/>
              </a:rPr>
              <a:t>All facts resolve dimensions through surrogate keys.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Silver Delta and Validation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Set-based cleaning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load silver tables 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74733"/>
            <a:ext cx="5760720" cy="3194132"/>
          </a:xfrm>
          <a:prstGeom prst="rect">
            <a:avLst/>
          </a:prstGeom>
        </p:spPr>
      </p:pic>
      <p:sp>
        <p:nvSpPr>
          <p:cNvPr id="8" name="Pattern"/>
          <p:cNvSpPr/>
          <p:nvPr/>
        </p:nvSpPr>
        <p:spPr>
          <a:xfrm>
            <a:off x="594360" y="100584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Stored procedure pattern</a:t>
            </a:r>
            <a:endParaRPr lang="en-US" sz="2000"/>
          </a:p>
        </p:txBody>
      </p:sp>
      <p:sp>
        <p:nvSpPr>
          <p:cNvPr id="9" name="Pattern body"/>
          <p:cNvSpPr/>
          <p:nvPr/>
        </p:nvSpPr>
        <p:spPr>
          <a:xfrm>
            <a:off x="685800" y="1600200"/>
            <a:ext cx="475488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Read only the current ingest_batch_id from Bronze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TRIM, TRY_CAST, derive metrics, and validate rules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Calculate SHA2_256 row_hash for change detection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MERGE into Silver: insert new, update changed, ignore unchanged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Retain invalid rows with is_valid = 0 and validation_message</a:t>
            </a:r>
            <a:endParaRPr lang="en-US" sz="1300"/>
          </a:p>
        </p:txBody>
      </p:sp>
      <p:sp>
        <p:nvSpPr>
          <p:cNvPr id="10" name="Examples"/>
          <p:cNvSpPr/>
          <p:nvPr/>
        </p:nvSpPr>
        <p:spPr>
          <a:xfrm>
            <a:off x="685800" y="4069080"/>
            <a:ext cx="4892040" cy="91440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300" b="1">
                <a:solidFill>
                  <a:srgbClr val="172033"/>
                </a:solidFill>
                <a:latin typeface="Aptos"/>
              </a:rPr>
              <a:t>Validation examples: missing business keys, invalid dates, negative weights, end time before start, invalid gate direction.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SSIS Orchestration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Package flow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master 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96447"/>
            <a:ext cx="5715000" cy="2704984"/>
          </a:xfrm>
          <a:prstGeom prst="rect">
            <a:avLst/>
          </a:prstGeom>
        </p:spPr>
      </p:pic>
      <p:sp>
        <p:nvSpPr>
          <p:cNvPr id="8" name="Sequence Title"/>
          <p:cNvSpPr/>
          <p:nvPr/>
        </p:nvSpPr>
        <p:spPr>
          <a:xfrm>
            <a:off x="6492240" y="9601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Documented execution order</a:t>
            </a:r>
            <a:endParaRPr lang="en-US" sz="2000"/>
          </a:p>
        </p:txBody>
      </p:sp>
      <p:sp>
        <p:nvSpPr>
          <p:cNvPr id="9" name="Sequence"/>
          <p:cNvSpPr/>
          <p:nvPr/>
        </p:nvSpPr>
        <p:spPr>
          <a:xfrm>
            <a:off x="6537960" y="1463040"/>
            <a:ext cx="4754880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1. 01_Load_Bronze_From_Excel.dtsx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2. 02_Load_Silver_Validated.dtsx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3. 03_Load_Dim_Date.dtsx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4. 04_Load_Dimensions_Type1.dtsx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5. 05_Load_DimCustomer_SCD2.dtsx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6. 06_Load_Facts.dtsx</a:t>
            </a:r>
            <a:endParaRPr lang="en-US" sz="1200"/>
          </a:p>
        </p:txBody>
      </p:sp>
      <p:sp>
        <p:nvSpPr>
          <p:cNvPr id="10" name="Audit"/>
          <p:cNvSpPr/>
          <p:nvPr/>
        </p:nvSpPr>
        <p:spPr>
          <a:xfrm>
            <a:off x="6537960" y="4343400"/>
            <a:ext cx="4663440" cy="77724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300" b="1">
                <a:solidFill>
                  <a:srgbClr val="172033"/>
                </a:solidFill>
                <a:latin typeface="Aptos"/>
              </a:rPr>
              <a:t>The master workflow includes start/end audit tasks and failure paths into failed audit handling.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Dimension Strategy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Type 1 and customer SCD2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load dim_type2 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60086"/>
            <a:ext cx="5257800" cy="3520506"/>
          </a:xfrm>
          <a:prstGeom prst="rect">
            <a:avLst/>
          </a:prstGeom>
        </p:spPr>
      </p:pic>
      <p:sp>
        <p:nvSpPr>
          <p:cNvPr id="8" name="Type1"/>
          <p:cNvSpPr/>
          <p:nvPr/>
        </p:nvSpPr>
        <p:spPr>
          <a:xfrm>
            <a:off x="594360" y="1005840"/>
            <a:ext cx="5349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Type1 title"/>
          <p:cNvSpPr/>
          <p:nvPr/>
        </p:nvSpPr>
        <p:spPr>
          <a:xfrm>
            <a:off x="868680" y="12344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0B1736"/>
                </a:solidFill>
                <a:latin typeface="Aptos"/>
              </a:rPr>
              <a:t>Type 1 dimensions</a:t>
            </a:r>
            <a:endParaRPr lang="en-US" sz="1900"/>
          </a:p>
        </p:txBody>
      </p:sp>
      <p:sp>
        <p:nvSpPr>
          <p:cNvPr id="10" name="Type1 body"/>
          <p:cNvSpPr/>
          <p:nvPr/>
        </p:nvSpPr>
        <p:spPr>
          <a:xfrm>
            <a:off x="868680" y="169164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Terminal, equipment, and shift overwrite changed descriptive attributes using row_hash comparison.</a:t>
            </a:r>
            <a:endParaRPr lang="en-US" sz="1200"/>
          </a:p>
        </p:txBody>
      </p:sp>
      <p:sp>
        <p:nvSpPr>
          <p:cNvPr id="11" name="SCD2"/>
          <p:cNvSpPr/>
          <p:nvPr/>
        </p:nvSpPr>
        <p:spPr>
          <a:xfrm>
            <a:off x="594360" y="2971800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CD2 title"/>
          <p:cNvSpPr/>
          <p:nvPr/>
        </p:nvSpPr>
        <p:spPr>
          <a:xfrm>
            <a:off x="868680" y="32004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0B1736"/>
                </a:solidFill>
                <a:latin typeface="Aptos"/>
              </a:rPr>
              <a:t>Customer SCD Type 2</a:t>
            </a:r>
            <a:endParaRPr lang="en-US" sz="1900"/>
          </a:p>
        </p:txBody>
      </p:sp>
      <p:sp>
        <p:nvSpPr>
          <p:cNvPr id="13" name="SCD2 body"/>
          <p:cNvSpPr/>
          <p:nvPr/>
        </p:nvSpPr>
        <p:spPr>
          <a:xfrm>
            <a:off x="868680" y="36576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customer_tier and credit_limit create historical versions; current customer attributes are Type 1 overwritten across versions.</a:t>
            </a:r>
            <a:endParaRPr lang="en-US" sz="1200"/>
          </a:p>
        </p:txBody>
      </p:sp>
      <p:sp>
        <p:nvSpPr>
          <p:cNvPr id="14" name="Unknown"/>
          <p:cNvSpPr/>
          <p:nvPr/>
        </p:nvSpPr>
        <p:spPr>
          <a:xfrm>
            <a:off x="6492240" y="4892040"/>
            <a:ext cx="4846320" cy="59436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1">
                <a:solidFill>
                  <a:srgbClr val="172033"/>
                </a:solidFill>
                <a:latin typeface="Aptos"/>
              </a:rPr>
              <a:t>Unknown rows use surrogate key -1 to keep facts loadable when a referenced dimension is missing or late-arriving.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Fact Loading and Metrics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Grain and measures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load facts 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509" y="914400"/>
            <a:ext cx="4849821" cy="3749039"/>
          </a:xfrm>
          <a:prstGeom prst="rect">
            <a:avLst/>
          </a:prstGeom>
        </p:spPr>
      </p:pic>
      <p:sp>
        <p:nvSpPr>
          <p:cNvPr id="8" name="Vessel Call Card"/>
          <p:cNvSpPr/>
          <p:nvPr/>
        </p:nvSpPr>
        <p:spPr>
          <a:xfrm>
            <a:off x="594360" y="960120"/>
            <a:ext cx="5577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Vessel Call Title"/>
          <p:cNvSpPr/>
          <p:nvPr/>
        </p:nvSpPr>
        <p:spPr>
          <a:xfrm>
            <a:off x="822960" y="108813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Vessel Call</a:t>
            </a:r>
            <a:endParaRPr lang="en-US" sz="1600"/>
          </a:p>
        </p:txBody>
      </p:sp>
      <p:sp>
        <p:nvSpPr>
          <p:cNvPr id="10" name="Vessel Call Body"/>
          <p:cNvSpPr/>
          <p:nvPr/>
        </p:nvSpPr>
        <p:spPr>
          <a:xfrm>
            <a:off x="822960" y="141732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Grain: one row per vessel call</a:t>
            </a:r>
            <a:endParaRPr lang="en-US" sz="1000"/>
          </a:p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Measures: berth delay, stay hours, moves variance</a:t>
            </a:r>
            <a:endParaRPr lang="en-US" sz="1000"/>
          </a:p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Customer SCD date: ATA, fallback ETA</a:t>
            </a:r>
            <a:endParaRPr lang="en-US" sz="1000"/>
          </a:p>
        </p:txBody>
      </p:sp>
      <p:sp>
        <p:nvSpPr>
          <p:cNvPr id="11" name="Container Movement Card"/>
          <p:cNvSpPr/>
          <p:nvPr/>
        </p:nvSpPr>
        <p:spPr>
          <a:xfrm>
            <a:off x="594360" y="2560320"/>
            <a:ext cx="5577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Container Movement Title"/>
          <p:cNvSpPr/>
          <p:nvPr/>
        </p:nvSpPr>
        <p:spPr>
          <a:xfrm>
            <a:off x="822960" y="268833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Container Movement</a:t>
            </a:r>
            <a:endParaRPr lang="en-US" sz="1600"/>
          </a:p>
        </p:txBody>
      </p:sp>
      <p:sp>
        <p:nvSpPr>
          <p:cNvPr id="13" name="Container Movement Body"/>
          <p:cNvSpPr/>
          <p:nvPr/>
        </p:nvSpPr>
        <p:spPr>
          <a:xfrm>
            <a:off x="822960" y="301752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Grain: one row per move</a:t>
            </a:r>
            <a:endParaRPr lang="en-US" sz="1000"/>
          </a:p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Measures: crane cycle seconds, weight tons</a:t>
            </a:r>
            <a:endParaRPr lang="en-US" sz="1000"/>
          </a:p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Customer SCD date: move_start_time</a:t>
            </a:r>
            <a:endParaRPr lang="en-US" sz="1000"/>
          </a:p>
        </p:txBody>
      </p:sp>
      <p:sp>
        <p:nvSpPr>
          <p:cNvPr id="14" name="Gate Transaction Card"/>
          <p:cNvSpPr/>
          <p:nvPr/>
        </p:nvSpPr>
        <p:spPr>
          <a:xfrm>
            <a:off x="594360" y="4160520"/>
            <a:ext cx="5577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Gate Transaction Title"/>
          <p:cNvSpPr/>
          <p:nvPr/>
        </p:nvSpPr>
        <p:spPr>
          <a:xfrm>
            <a:off x="822960" y="428853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1">
                <a:solidFill>
                  <a:srgbClr val="0B1736"/>
                </a:solidFill>
                <a:latin typeface="Aptos"/>
              </a:rPr>
              <a:t>Gate Transaction</a:t>
            </a:r>
            <a:endParaRPr lang="en-US" sz="1600"/>
          </a:p>
        </p:txBody>
      </p:sp>
      <p:sp>
        <p:nvSpPr>
          <p:cNvPr id="16" name="Gate Transaction Body"/>
          <p:cNvSpPr/>
          <p:nvPr/>
        </p:nvSpPr>
        <p:spPr>
          <a:xfrm>
            <a:off x="822960" y="461772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Grain: one row per truck gate transaction</a:t>
            </a:r>
            <a:endParaRPr lang="en-US" sz="1000"/>
          </a:p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Measures: truck turnaround minutes</a:t>
            </a:r>
            <a:endParaRPr lang="en-US" sz="1000"/>
          </a:p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- Date keys: gate in active, gate out inactive</a:t>
            </a:r>
            <a:endParaRPr lang="en-US" sz="1000"/>
          </a:p>
        </p:txBody>
      </p:sp>
      <p:sp>
        <p:nvSpPr>
          <p:cNvPr id="17" name="Refresh"/>
          <p:cNvSpPr/>
          <p:nvPr/>
        </p:nvSpPr>
        <p:spPr>
          <a:xfrm>
            <a:off x="6583680" y="4983480"/>
            <a:ext cx="4709160" cy="64008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1">
                <a:solidFill>
                  <a:srgbClr val="172033"/>
                </a:solidFill>
                <a:latin typeface="Aptos"/>
              </a:rPr>
              <a:t>Facts use a controlled full refresh, suitable for the assessment workbook extract. Incremental loading is the production extension.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Audit and Data Quality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Traceability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sp>
        <p:nvSpPr>
          <p:cNvPr id="7" name="Audit box"/>
          <p:cNvSpPr/>
          <p:nvPr/>
        </p:nvSpPr>
        <p:spPr>
          <a:xfrm>
            <a:off x="640080" y="10058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Audit title"/>
          <p:cNvSpPr/>
          <p:nvPr/>
        </p:nvSpPr>
        <p:spPr>
          <a:xfrm>
            <a:off x="914400" y="1280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Audit tables</a:t>
            </a:r>
            <a:endParaRPr lang="en-US" sz="2000"/>
          </a:p>
        </p:txBody>
      </p:sp>
      <p:sp>
        <p:nvSpPr>
          <p:cNvPr id="9" name="Audit body"/>
          <p:cNvSpPr/>
          <p:nvPr/>
        </p:nvSpPr>
        <p:spPr>
          <a:xfrm>
            <a:off x="914400" y="1828800"/>
            <a:ext cx="475488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audit.ingest_batch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audit.package_execution_log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audit.dimension_load_count_log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audit.customer_scd2_load_count_log</a:t>
            </a:r>
            <a:endParaRPr lang="en-US" sz="1300"/>
          </a:p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- audit.fact_load_count_log</a:t>
            </a:r>
            <a:endParaRPr lang="en-US" sz="1300"/>
          </a:p>
        </p:txBody>
      </p:sp>
      <p:sp>
        <p:nvSpPr>
          <p:cNvPr id="10" name="DQ box"/>
          <p:cNvSpPr/>
          <p:nvPr/>
        </p:nvSpPr>
        <p:spPr>
          <a:xfrm>
            <a:off x="6355080" y="100584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DQ title"/>
          <p:cNvSpPr/>
          <p:nvPr/>
        </p:nvSpPr>
        <p:spPr>
          <a:xfrm>
            <a:off x="6629400" y="1280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Data quality handling</a:t>
            </a:r>
            <a:endParaRPr lang="en-US" sz="2000"/>
          </a:p>
        </p:txBody>
      </p:sp>
      <p:sp>
        <p:nvSpPr>
          <p:cNvPr id="12" name="DQ body"/>
          <p:cNvSpPr/>
          <p:nvPr/>
        </p:nvSpPr>
        <p:spPr>
          <a:xfrm>
            <a:off x="6629400" y="1828800"/>
            <a:ext cx="475488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Silver records keep is_valid and validation_message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dq.dimension_type1_errors captures dimension load errors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dq.fact_load_errors captures fact-level rejects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Unknown members prevent null fact foreign keys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Central reconciliation package is documented as planned, not implemented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Power BI Model and Measures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Gold layer reporting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PowerBi Data 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3800"/>
            <a:ext cx="6812280" cy="2736079"/>
          </a:xfrm>
          <a:prstGeom prst="rect">
            <a:avLst/>
          </a:prstGeom>
        </p:spPr>
      </p:pic>
      <p:sp>
        <p:nvSpPr>
          <p:cNvPr id="8" name="Measures"/>
          <p:cNvSpPr/>
          <p:nvPr/>
        </p:nvSpPr>
        <p:spPr>
          <a:xfrm>
            <a:off x="7635240" y="914400"/>
            <a:ext cx="3886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Measures title"/>
          <p:cNvSpPr/>
          <p:nvPr/>
        </p:nvSpPr>
        <p:spPr>
          <a:xfrm>
            <a:off x="7909560" y="1188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Reported measures</a:t>
            </a:r>
            <a:endParaRPr lang="en-US" sz="2000"/>
          </a:p>
        </p:txBody>
      </p:sp>
      <p:sp>
        <p:nvSpPr>
          <p:cNvPr id="10" name="Measures body"/>
          <p:cNvSpPr/>
          <p:nvPr/>
        </p:nvSpPr>
        <p:spPr>
          <a:xfrm>
            <a:off x="7909560" y="1783080"/>
            <a:ext cx="347472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Total Container Moves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Moves 7-Day Rolling Avg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Moves YoY %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Avg Crane Cycle Seconds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Avg Moves Variance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Avg Stay Hours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Berth Delay Avg Hours</a:t>
            </a:r>
            <a:endParaRPr lang="en-US" sz="1200"/>
          </a:p>
          <a:p>
            <a:pPr algn="l"/>
            <a:r>
              <a:rPr lang="en-US" sz="1200">
                <a:solidFill>
                  <a:srgbClr val="475569"/>
                </a:solidFill>
                <a:latin typeface="Aptos"/>
              </a:rPr>
              <a:t>- Gate Transaction Volume</a:t>
            </a:r>
            <a:endParaRPr lang="en-US" sz="1200"/>
          </a:p>
        </p:txBody>
      </p:sp>
      <p:sp>
        <p:nvSpPr>
          <p:cNvPr id="11" name="Rel note"/>
          <p:cNvSpPr/>
          <p:nvPr/>
        </p:nvSpPr>
        <p:spPr>
          <a:xfrm>
            <a:off x="7909560" y="4892040"/>
            <a:ext cx="3291840" cy="41148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172033"/>
                </a:solidFill>
                <a:latin typeface="Aptos"/>
              </a:rPr>
              <a:t>The model uses one-to-many relationships from Gold dimensions to facts.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Dashboard Walkthrough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Home and operations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Home 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8" y="960120"/>
            <a:ext cx="5341902" cy="2560320"/>
          </a:xfrm>
          <a:prstGeom prst="rect">
            <a:avLst/>
          </a:prstGeom>
        </p:spPr>
      </p:pic>
      <p:pic>
        <p:nvPicPr>
          <p:cNvPr id="8" name="Page 1 — Operations 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12092"/>
            <a:ext cx="5394960" cy="2576414"/>
          </a:xfrm>
          <a:prstGeom prst="rect">
            <a:avLst/>
          </a:prstGeom>
        </p:spPr>
      </p:pic>
      <p:sp>
        <p:nvSpPr>
          <p:cNvPr id="9" name="Home caption"/>
          <p:cNvSpPr/>
          <p:nvPr/>
        </p:nvSpPr>
        <p:spPr>
          <a:xfrm>
            <a:off x="731520" y="3703320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/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Home page routes users to Operations, Gate Performance, and Customer &amp; Vessel Performance.</a:t>
            </a:r>
            <a:endParaRPr lang="en-US" sz="1100"/>
          </a:p>
        </p:txBody>
      </p:sp>
      <p:sp>
        <p:nvSpPr>
          <p:cNvPr id="10" name="Ops caption"/>
          <p:cNvSpPr/>
          <p:nvPr/>
        </p:nvSpPr>
        <p:spPr>
          <a:xfrm>
            <a:off x="6355080" y="4023360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/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Operations page highlights 91K container moves, 0.02 average berth delay hours, and 144.91 average crane cycle seconds.</a:t>
            </a:r>
            <a:endParaRPr lang="en-US" sz="1100"/>
          </a:p>
        </p:txBody>
      </p:sp>
      <p:sp>
        <p:nvSpPr>
          <p:cNvPr id="11" name="Ops note"/>
          <p:cNvSpPr/>
          <p:nvPr/>
        </p:nvSpPr>
        <p:spPr>
          <a:xfrm>
            <a:off x="731520" y="5257800"/>
            <a:ext cx="10789920" cy="50292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400" b="1">
                <a:solidFill>
                  <a:srgbClr val="172033"/>
                </a:solidFill>
                <a:latin typeface="Aptos"/>
              </a:rPr>
              <a:t>Navigation, customer slicer, and date slicer are consistent across dashboard pages.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Gate, Customer, and Vessel Views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Operational analysis pages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pic>
        <p:nvPicPr>
          <p:cNvPr id="7" name="Page 2 — Gate 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83017"/>
            <a:ext cx="5394960" cy="2634565"/>
          </a:xfrm>
          <a:prstGeom prst="rect">
            <a:avLst/>
          </a:prstGeom>
        </p:spPr>
      </p:pic>
      <p:pic>
        <p:nvPicPr>
          <p:cNvPr id="8" name="Page 3 — Customer &amp; Vessel 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79964"/>
            <a:ext cx="5394960" cy="2640670"/>
          </a:xfrm>
          <a:prstGeom prst="rect">
            <a:avLst/>
          </a:prstGeom>
        </p:spPr>
      </p:pic>
      <p:sp>
        <p:nvSpPr>
          <p:cNvPr id="9" name="Gate caption"/>
          <p:cNvSpPr/>
          <p:nvPr/>
        </p:nvSpPr>
        <p:spPr>
          <a:xfrm>
            <a:off x="731520" y="4069080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/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Gate page reports 97K transactions and 51.64 average truck turnaround minutes by customer and day.</a:t>
            </a:r>
            <a:endParaRPr lang="en-US" sz="1100"/>
          </a:p>
        </p:txBody>
      </p:sp>
      <p:sp>
        <p:nvSpPr>
          <p:cNvPr id="10" name="Customer caption"/>
          <p:cNvSpPr/>
          <p:nvPr/>
        </p:nvSpPr>
        <p:spPr>
          <a:xfrm>
            <a:off x="6355080" y="4069080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/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Customer &amp; Vessel page compares moves by customer, customer tier, berth delay, stay hours, and moves variance.</a:t>
            </a:r>
            <a:endParaRPr lang="en-US" sz="1100"/>
          </a:p>
        </p:txBody>
      </p:sp>
      <p:sp>
        <p:nvSpPr>
          <p:cNvPr id="11" name="Bridge"/>
          <p:cNvSpPr/>
          <p:nvPr/>
        </p:nvSpPr>
        <p:spPr>
          <a:xfrm>
            <a:off x="731520" y="5349240"/>
            <a:ext cx="10789920" cy="502920"/>
          </a:xfrm>
          <a:prstGeom prst="roundRect">
            <a:avLst/>
          </a:prstGeom>
          <a:solidFill>
            <a:srgbClr val="BFE7FF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300" b="1">
                <a:solidFill>
                  <a:srgbClr val="172033"/>
                </a:solidFill>
                <a:latin typeface="Aptos"/>
              </a:rPr>
              <a:t>These pages are the business-facing proof that the Gold model supports both throughput and service-performance questions.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Accent Bar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16B6A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Title"/>
          <p:cNvSpPr/>
          <p:nvPr/>
        </p:nvSpPr>
        <p:spPr>
          <a:xfrm>
            <a:off x="411480" y="1188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ptos"/>
              </a:rPr>
              <a:t>Strengths, Limitations, and Next Steps</a:t>
            </a:r>
            <a:endParaRPr lang="en-US" sz="1900"/>
          </a:p>
        </p:txBody>
      </p:sp>
      <p:sp>
        <p:nvSpPr>
          <p:cNvPr id="5" name="Subtitle"/>
          <p:cNvSpPr/>
          <p:nvPr/>
        </p:nvSpPr>
        <p:spPr>
          <a:xfrm>
            <a:off x="7863840" y="1645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900">
                <a:solidFill>
                  <a:srgbClr val="BFE7FF"/>
                </a:solidFill>
                <a:latin typeface="Aptos"/>
              </a:rPr>
              <a:t>Handoff notes</a:t>
            </a:r>
            <a:endParaRPr lang="en-US" sz="900"/>
          </a:p>
        </p:txBody>
      </p:sp>
      <p:pic>
        <p:nvPicPr>
          <p:cNvPr id="6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0" y="73152"/>
            <a:ext cx="457200" cy="457200"/>
          </a:xfrm>
          <a:prstGeom prst="rect">
            <a:avLst/>
          </a:prstGeom>
        </p:spPr>
      </p:pic>
      <p:sp>
        <p:nvSpPr>
          <p:cNvPr id="7" name="Strengths"/>
          <p:cNvSpPr/>
          <p:nvPr/>
        </p:nvSpPr>
        <p:spPr>
          <a:xfrm>
            <a:off x="594360" y="914400"/>
            <a:ext cx="3703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trengths title"/>
          <p:cNvSpPr/>
          <p:nvPr/>
        </p:nvSpPr>
        <p:spPr>
          <a:xfrm>
            <a:off x="822960" y="11887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0B1736"/>
                </a:solidFill>
                <a:latin typeface="Aptos"/>
              </a:rPr>
              <a:t>Strengths</a:t>
            </a:r>
            <a:endParaRPr lang="en-US" sz="2000" dirty="0"/>
          </a:p>
        </p:txBody>
      </p:sp>
      <p:sp>
        <p:nvSpPr>
          <p:cNvPr id="9" name="Strengths body"/>
          <p:cNvSpPr/>
          <p:nvPr/>
        </p:nvSpPr>
        <p:spPr>
          <a:xfrm>
            <a:off x="822960" y="1737360"/>
            <a:ext cx="324612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</a:rPr>
              <a:t>- Clear medallion separation</a:t>
            </a:r>
            <a:endParaRPr lang="en-US" sz="1200" dirty="0"/>
          </a:p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</a:rPr>
              <a:t>- Set-based Silver procedures</a:t>
            </a:r>
            <a:endParaRPr lang="en-US" sz="1200" dirty="0"/>
          </a:p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</a:rPr>
              <a:t>- Customer history modeled with SCD2</a:t>
            </a:r>
            <a:endParaRPr lang="en-US" sz="1200" dirty="0"/>
          </a:p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</a:rPr>
              <a:t>- Surrogate-keyed fact </a:t>
            </a:r>
            <a:r>
              <a:rPr lang="en-US" sz="1400" dirty="0">
                <a:solidFill>
                  <a:srgbClr val="475569"/>
                </a:solidFill>
                <a:latin typeface="Aptos"/>
              </a:rPr>
              <a:t>tables</a:t>
            </a:r>
            <a:endParaRPr lang="en-US" sz="1200" dirty="0"/>
          </a:p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</a:rPr>
              <a:t>- Audit tables and row-count logs</a:t>
            </a:r>
            <a:endParaRPr lang="en-US" sz="1200" dirty="0"/>
          </a:p>
          <a:p>
            <a:pPr algn="l"/>
            <a:r>
              <a:rPr lang="en-US" sz="1200" dirty="0">
                <a:solidFill>
                  <a:srgbClr val="475569"/>
                </a:solidFill>
                <a:latin typeface="Aptos"/>
              </a:rPr>
              <a:t>- BI model isolated to Gold layer</a:t>
            </a:r>
            <a:endParaRPr lang="en-US" sz="1200" dirty="0"/>
          </a:p>
        </p:txBody>
      </p:sp>
      <p:sp>
        <p:nvSpPr>
          <p:cNvPr id="10" name="Limits"/>
          <p:cNvSpPr/>
          <p:nvPr/>
        </p:nvSpPr>
        <p:spPr>
          <a:xfrm>
            <a:off x="4480560" y="914400"/>
            <a:ext cx="3703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Limits title"/>
          <p:cNvSpPr/>
          <p:nvPr/>
        </p:nvSpPr>
        <p:spPr>
          <a:xfrm>
            <a:off x="4709160" y="11887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Limitations</a:t>
            </a:r>
            <a:endParaRPr lang="en-US" sz="2000"/>
          </a:p>
        </p:txBody>
      </p:sp>
      <p:sp>
        <p:nvSpPr>
          <p:cNvPr id="12" name="Limits body"/>
          <p:cNvSpPr/>
          <p:nvPr/>
        </p:nvSpPr>
        <p:spPr>
          <a:xfrm>
            <a:off x="4709160" y="1737360"/>
            <a:ext cx="324612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Planned 07_Reconciliation_And_Audit package is not implemented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Facts use full refresh rather than incremental loading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Some SSIS updates use OLE DB Command, which does not scale well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Master XML should be verified: EPT_01 label points to 06_Load_Facts.dtsx</a:t>
            </a:r>
            <a:endParaRPr lang="en-US" sz="1100"/>
          </a:p>
        </p:txBody>
      </p:sp>
      <p:sp>
        <p:nvSpPr>
          <p:cNvPr id="13" name="Next"/>
          <p:cNvSpPr/>
          <p:nvPr/>
        </p:nvSpPr>
        <p:spPr>
          <a:xfrm>
            <a:off x="8366760" y="914400"/>
            <a:ext cx="33375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Next title"/>
          <p:cNvSpPr/>
          <p:nvPr/>
        </p:nvSpPr>
        <p:spPr>
          <a:xfrm>
            <a:off x="859536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B1736"/>
                </a:solidFill>
                <a:latin typeface="Aptos"/>
              </a:rPr>
              <a:t>Next steps</a:t>
            </a:r>
            <a:endParaRPr lang="en-US" sz="2000"/>
          </a:p>
        </p:txBody>
      </p:sp>
      <p:sp>
        <p:nvSpPr>
          <p:cNvPr id="15" name="Next body"/>
          <p:cNvSpPr/>
          <p:nvPr/>
        </p:nvSpPr>
        <p:spPr>
          <a:xfrm>
            <a:off x="8595360" y="1737360"/>
            <a:ext cx="288036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Add centralized reconciliation package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Move large updates to set-based staging SQL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Add incremental fact watermarks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Add automated deployment and smoke tests</a:t>
            </a:r>
            <a:endParaRPr lang="en-US" sz="1100"/>
          </a:p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- Add model documentation for DAX measures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1170</Words>
  <Application>Microsoft Office PowerPoint</Application>
  <PresentationFormat>Widescreen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PortOps Project Presentation</dc:title>
  <dc:creator>Codex</dc:creator>
  <cp:lastModifiedBy>khaled salah</cp:lastModifiedBy>
  <cp:revision>1</cp:revision>
  <dcterms:created xsi:type="dcterms:W3CDTF">2026-06-04T02:17:22Z</dcterms:created>
  <dcterms:modified xsi:type="dcterms:W3CDTF">2026-06-04T02:22:21Z</dcterms:modified>
</cp:coreProperties>
</file>